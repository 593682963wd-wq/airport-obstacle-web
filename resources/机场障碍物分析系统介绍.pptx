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0" y="0"/>
            <a:ext cx="4320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0000" y="0"/>
            <a:ext cx="2160000" cy="2880000"/>
          </a:xfrm>
          <a:prstGeom prst="rect">
            <a:avLst/>
          </a:prstGeom>
          <a:solidFill>
            <a:srgbClr val="929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648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>
                <a:solidFill>
                  <a:srgbClr val="D7003A"/>
                </a:solidFill>
                <a:latin typeface="微软雅黑"/>
              </a:rPr>
              <a:t>机场障碍物对飞行
影响分析系统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06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15457"/>
                </a:solidFill>
                <a:latin typeface="Arial"/>
              </a:rPr>
              <a:t>Airport Obstacle Impact Analysis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960000"/>
            <a:ext cx="648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515457"/>
                </a:solidFill>
                <a:latin typeface="微软雅黑"/>
              </a:rPr>
              <a:t>遵循 ICAO Annex 14 及 PANS-OPS 标准
湖南航空 · 运行指挥部 · 运行分析室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040000"/>
            <a:ext cx="3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515457"/>
                </a:solidFill>
                <a:latin typeface="微软雅黑"/>
              </a:rPr>
              <a:t>设计开发：王迪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508000"/>
            <a:ext cx="3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08080"/>
                </a:solidFill>
                <a:latin typeface="微软雅黑"/>
              </a:rPr>
              <a:t>2026年4月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0000"/>
            <a:ext cx="2880000" cy="432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60000"/>
            <a:ext cx="2880000" cy="1440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260000"/>
            <a:ext cx="1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60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000" y="90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0" y="90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项目背景与需求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0000" y="1368000"/>
            <a:ext cx="72000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0000" y="144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0" y="144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核心功能与特性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80000" y="1908000"/>
            <a:ext cx="72000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0000" y="198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0" y="198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系统架构与技术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0000" y="2448000"/>
            <a:ext cx="72000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0" y="252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0" y="252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操作流程演示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0000" y="2988000"/>
            <a:ext cx="72000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0000" y="306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0" y="306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计算算法与标准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0000" y="3528000"/>
            <a:ext cx="72000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0" y="360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0" y="360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颜色标记体系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0000" y="4068000"/>
            <a:ext cx="72000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0000" y="414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0000" y="414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输入输出格式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80000" y="4608000"/>
            <a:ext cx="72000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0000" y="468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0000" y="468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验证测试成果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0000" y="5148000"/>
            <a:ext cx="72000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80000" y="5220000"/>
            <a:ext cx="10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D0021B"/>
                </a:solidFill>
                <a:latin typeface="微软雅黑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0000" y="522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/>
              </a:rPr>
              <a:t>应用价值与展望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01  项目背景与需求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260000"/>
            <a:ext cx="5400000" cy="486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440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00000"/>
                </a:solidFill>
                <a:latin typeface="微软雅黑"/>
              </a:rPr>
              <a:t>✈  为什么需要这个系统？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980000"/>
            <a:ext cx="468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机场障碍物数据定期更新，需频繁分析评估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手工计算耗时长、易出错，影响航班运行安全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PEP系统输入文件格式复杂，人工编辑风险高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ICAO Annex 14 / PANS-OPS 标准计算繁琐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多跑道、多QFU（跑道端）组合分析工作量大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缺乏可视化工具，数据核对困难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1260000"/>
            <a:ext cx="5580000" cy="486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8000" y="1440000"/>
            <a:ext cx="50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8B151F"/>
                </a:solidFill>
                <a:latin typeface="微软雅黑"/>
              </a:rPr>
              <a:t>🎯  本系统的目标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8000" y="1980000"/>
            <a:ext cx="504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一键导入 PEP TXT / AIP PDF 障碍物数据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自动计算障碍物穿越面、保护区判定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自动遮蔽检测与障碍物分类标记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生成符合 PEP 标准的 TXT 输出文件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生成 Excel 分析报表，便于存档和汇报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·  可视化 GUI 界面，颜色标记一目了然</a:t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/>
            </a:r>
          </a:p>
          <a:p>
            <a:pPr>
              <a:spcAft>
                <a:spcPts val="420"/>
              </a:spcAft>
            </a:pPr>
            <a:r>
              <a:rPr sz="1400" b="0">
                <a:solidFill>
                  <a:srgbClr val="222222"/>
                </a:solidFill>
                <a:latin typeface="微软雅黑"/>
              </a:rPr>
              <a:t>从 "小时级" 手工计算  →  "分钟级" 自动完成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  核心功能与特性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Oval 5"/>
          <p:cNvSpPr/>
          <p:nvPr/>
        </p:nvSpPr>
        <p:spPr>
          <a:xfrm>
            <a:off x="1080000" y="1260000"/>
            <a:ext cx="900000" cy="90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136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40000"/>
            <a:ext cx="19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00000"/>
                </a:solidFill>
                <a:latin typeface="微软雅黑"/>
              </a:rPr>
              <a:t>数据导入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880000"/>
            <a:ext cx="1980000" cy="306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306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PEP TXT 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60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AIP PDF 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14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手动输入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5868000"/>
            <a:ext cx="1980000" cy="7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48000" y="1260000"/>
            <a:ext cx="900000" cy="900000"/>
          </a:xfrm>
          <a:prstGeom prst="ellipse">
            <a:avLst/>
          </a:prstGeom>
          <a:solidFill>
            <a:srgbClr val="D4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136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8000" y="2340000"/>
            <a:ext cx="19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D4A34F"/>
                </a:solidFill>
                <a:latin typeface="微软雅黑"/>
              </a:rPr>
              <a:t>自动计算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8000" y="2880000"/>
            <a:ext cx="1980000" cy="306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8000" y="306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ICAO 标准算法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8000" y="360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1.2% 梯度面判定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8000" y="414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保护区宽度计算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8000" y="5868000"/>
            <a:ext cx="1980000" cy="72000"/>
          </a:xfrm>
          <a:prstGeom prst="rect">
            <a:avLst/>
          </a:prstGeom>
          <a:solidFill>
            <a:srgbClr val="D4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16000" y="1260000"/>
            <a:ext cx="900000" cy="900000"/>
          </a:xfrm>
          <a:prstGeom prst="ellipse">
            <a:avLst/>
          </a:prstGeom>
          <a:solidFill>
            <a:srgbClr val="8B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6000" y="136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6000" y="2340000"/>
            <a:ext cx="19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8B151F"/>
                </a:solidFill>
                <a:latin typeface="微软雅黑"/>
              </a:rPr>
              <a:t>遮蔽检测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6000" y="2880000"/>
            <a:ext cx="1980000" cy="306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6000" y="306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同向障碍物排序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6000" y="360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自动遮蔽标记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6000" y="414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有效障碍物筛选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6000" y="5868000"/>
            <a:ext cx="1980000" cy="72000"/>
          </a:xfrm>
          <a:prstGeom prst="rect">
            <a:avLst/>
          </a:prstGeom>
          <a:solidFill>
            <a:srgbClr val="8B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83999" y="1260000"/>
            <a:ext cx="900000" cy="90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3999" y="136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3999" y="2340000"/>
            <a:ext cx="19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E7D32"/>
                </a:solidFill>
                <a:latin typeface="微软雅黑"/>
              </a:rPr>
              <a:t>可视化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3999" y="2880000"/>
            <a:ext cx="1980000" cy="306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23999" y="306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颜色编码标记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3999" y="360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多标签页展示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3999" y="414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深色科幻风格UI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43999" y="5868000"/>
            <a:ext cx="1980000" cy="72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52000" y="1260000"/>
            <a:ext cx="900000" cy="90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2000" y="136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2000" y="2340000"/>
            <a:ext cx="19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00000"/>
                </a:solidFill>
                <a:latin typeface="微软雅黑"/>
              </a:rPr>
              <a:t>标准输出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12000" y="2880000"/>
            <a:ext cx="1980000" cy="306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92000" y="306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PEP TXT 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2000" y="360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Excel 报表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2000" y="4140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·  回环验证通过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12000" y="5868000"/>
            <a:ext cx="1980000" cy="7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03  系统架构与技术栈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260000"/>
            <a:ext cx="2880000" cy="1152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548000"/>
            <a:ext cx="25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表示层 ·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1548000"/>
            <a:ext cx="5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C00000"/>
                </a:solidFill>
                <a:latin typeface="微软雅黑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0" y="1260000"/>
            <a:ext cx="7200000" cy="115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000" y="1368000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PySide6 (Qt6) 深色科幻主题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000" y="1728000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多标签页、颜色编码表格、进度条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000" y="2087999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支持导入/编辑/导出全流程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700000"/>
            <a:ext cx="2880000" cy="1152000"/>
          </a:xfrm>
          <a:prstGeom prst="roundRect">
            <a:avLst/>
          </a:prstGeom>
          <a:solidFill>
            <a:srgbClr val="D4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2988000"/>
            <a:ext cx="25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业务层 ·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0" y="2988000"/>
            <a:ext cx="5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D4A34F"/>
                </a:solidFill>
                <a:latin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00000"/>
            <a:ext cx="7200000" cy="115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000" y="2808000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PEP TXT 解析器 / AIP PDF 解析器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000" y="3168000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ICAO 标准障碍物计算引擎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000" y="3527999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遮蔽检测 / 保护区判定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" y="4140000"/>
            <a:ext cx="2880000" cy="1152000"/>
          </a:xfrm>
          <a:prstGeom prst="roundRect">
            <a:avLst/>
          </a:prstGeom>
          <a:solidFill>
            <a:srgbClr val="8B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4428000"/>
            <a:ext cx="25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输出层 · 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0" y="4428000"/>
            <a:ext cx="5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8B151F"/>
                </a:solidFill>
                <a:latin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4140000"/>
            <a:ext cx="7200000" cy="115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000" y="4248000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PEP TXT 标准格式生成器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000" y="4608000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Excel (xlsx) 报表生成器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000" y="4967999"/>
            <a:ext cx="648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·  严格格式对标，回环验证通过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0000" y="5580000"/>
            <a:ext cx="1728000" cy="432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" y="5616000"/>
            <a:ext cx="172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Python 3.13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20000" y="5580000"/>
            <a:ext cx="1728000" cy="432000"/>
          </a:xfrm>
          <a:prstGeom prst="roundRect">
            <a:avLst/>
          </a:prstGeom>
          <a:solidFill>
            <a:srgbClr val="D4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20000" y="5616000"/>
            <a:ext cx="172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PySide6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0000" y="5580000"/>
            <a:ext cx="1728000" cy="432000"/>
          </a:xfrm>
          <a:prstGeom prst="roundRect">
            <a:avLst/>
          </a:prstGeom>
          <a:solidFill>
            <a:srgbClr val="8B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0" y="5616000"/>
            <a:ext cx="172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pdfplumber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80000" y="5580000"/>
            <a:ext cx="1728000" cy="432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0000" y="5616000"/>
            <a:ext cx="172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openpyxl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60000" y="5580000"/>
            <a:ext cx="1728000" cy="43200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0000" y="5616000"/>
            <a:ext cx="172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PyMuPDF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04  操作流程演示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Oval 5"/>
          <p:cNvSpPr/>
          <p:nvPr/>
        </p:nvSpPr>
        <p:spPr>
          <a:xfrm>
            <a:off x="1152000" y="1440000"/>
            <a:ext cx="900000" cy="90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000" y="154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520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C00000"/>
                </a:solidFill>
                <a:latin typeface="微软雅黑"/>
              </a:rPr>
              <a:t>导入数据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3060000"/>
            <a:ext cx="2520000" cy="252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240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点击「导入 PEP TXT」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888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选择机场数据文件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536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自动解析全部内容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1620000"/>
            <a:ext cx="7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微软雅黑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4032000" y="1440000"/>
            <a:ext cx="900000" cy="90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2000" y="154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0" y="2520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C00000"/>
                </a:solidFill>
                <a:latin typeface="微软雅黑"/>
              </a:rPr>
              <a:t>核对信息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0000" y="3060000"/>
            <a:ext cx="2520000" cy="252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0000" y="3240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切换各标签页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000" y="3888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核对机场/跑道信息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0000" y="4536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检查障碍物数据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0" y="1620000"/>
            <a:ext cx="7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微软雅黑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6912000" y="1440000"/>
            <a:ext cx="900000" cy="90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2000" y="154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2520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C00000"/>
                </a:solidFill>
                <a:latin typeface="微软雅黑"/>
              </a:rPr>
              <a:t>配置参数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0000" y="3060000"/>
            <a:ext cx="2520000" cy="252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000" y="3240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点击「填写离场转弯角」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888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设置各QFU转弯参数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536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确认GAMethodFlag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0000" y="1620000"/>
            <a:ext cx="7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微软雅黑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9792000" y="1440000"/>
            <a:ext cx="900000" cy="90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0" y="1548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000" y="2520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C00000"/>
                </a:solidFill>
                <a:latin typeface="微软雅黑"/>
              </a:rPr>
              <a:t>计算导出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0000" y="3060000"/>
            <a:ext cx="2520000" cy="252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0000" y="3240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点击「计算并导出」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000" y="3888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选择输出目录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000" y="4536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生成TXT + XLSX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000" y="5580000"/>
            <a:ext cx="11160000" cy="54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5652000"/>
            <a:ext cx="11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全流程 4 步完成  ·  PEP导入时直接使用预计算结果，无需重新计算  ·  支持手动修改后重新导出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05  计算算法与 ICAO 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260000"/>
            <a:ext cx="3600000" cy="54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332000"/>
            <a:ext cx="3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1.2% 梯度面判定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908000"/>
            <a:ext cx="3600000" cy="28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087999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梯度面高度 F = D₅ + (O − D₆) × 0.012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735999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D₅ = 离地端标高 (DER)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384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D₆ = 净空道长度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032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障碍物海拔 E ≥ F → 穿越梯度面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8000" y="1260000"/>
            <a:ext cx="3600000" cy="540000"/>
          </a:xfrm>
          <a:prstGeom prst="roundRect">
            <a:avLst/>
          </a:prstGeom>
          <a:solidFill>
            <a:srgbClr val="D4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8000" y="1332000"/>
            <a:ext cx="3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保护区宽度计算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8000" y="1908000"/>
            <a:ext cx="3600000" cy="28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000" y="2087999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Q = 90 + 0.125 × (|O| − D₆)  (≤6480m)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000" y="2735999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Q = 900m  (&gt;6480m时)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8000" y="3384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横向距离 |P| &lt; |Q| 且 O &gt;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8000" y="4032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→ 在保护区内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6000" y="1260000"/>
            <a:ext cx="3600000" cy="540000"/>
          </a:xfrm>
          <a:prstGeom prst="roundRect">
            <a:avLst/>
          </a:prstGeom>
          <a:solidFill>
            <a:srgbClr val="8B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6000" y="1332000"/>
            <a:ext cx="3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遮蔽检测逻辑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6000" y="1908000"/>
            <a:ext cx="3600000" cy="28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6000" y="2087999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同向障碍物按距离排序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000" y="2735999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较远障碍物被较近更高障碍物遮挡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000" y="3384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→ 标记为「被遮蔽」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6000" y="4032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减少不必要的性能限制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4860000"/>
            <a:ext cx="11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C00000"/>
                </a:solidFill>
                <a:latin typeface="微软雅黑"/>
              </a:rPr>
              <a:t>关键常数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000" y="5328000"/>
            <a:ext cx="1980000" cy="79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5364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/>
              </a:rPr>
              <a:t>FT_TO_M = 0.3048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" y="5688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英尺→米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28000" y="5328000"/>
            <a:ext cx="1980000" cy="79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36000" y="5364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/>
              </a:rPr>
              <a:t>M_TO_FT = 3.28084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36000" y="5688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米→英尺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6000" y="5328000"/>
            <a:ext cx="1980000" cy="79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04000" y="5364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/>
              </a:rPr>
              <a:t>梯度 = 1.2%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4000" y="5688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起飞爬升梯度面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63999" y="5328000"/>
            <a:ext cx="1980000" cy="79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1999" y="5364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/>
              </a:rPr>
              <a:t>基础宽度 = 90m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1999" y="5688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保护区基础宽度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32000" y="5328000"/>
            <a:ext cx="1980000" cy="79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40000" y="5364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/>
              </a:rPr>
              <a:t>最大宽度 = 900m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40000" y="5688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保护区最大宽度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06  颜色标记体系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52000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00000"/>
                </a:solidFill>
                <a:latin typeface="微软雅黑"/>
              </a:rPr>
              <a:t>🛬 跑道 / QFU 表颜色编码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620000"/>
            <a:ext cx="900000" cy="648000"/>
          </a:xfrm>
          <a:prstGeom prst="roundRect">
            <a:avLst/>
          </a:prstGeom>
          <a:solidFill>
            <a:srgbClr val="14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1656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深绿色底 (20,60,40)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1944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GAMethodFlag=0 · ILS精密进近跑道端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520000"/>
            <a:ext cx="900000" cy="648000"/>
          </a:xfrm>
          <a:prstGeom prst="roundRect">
            <a:avLst/>
          </a:prstGeom>
          <a:solidFill>
            <a:srgbClr val="28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0000" y="2556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蓝灰色底 (40,60,80)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2844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交叉起飞点（Intersection QFU）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3420000"/>
            <a:ext cx="900000" cy="648000"/>
          </a:xfrm>
          <a:prstGeom prst="roundRect">
            <a:avLst/>
          </a:prstGeom>
          <a:solidFill>
            <a:srgbClr val="32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3456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橙色底 (50,40,20)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0" y="3744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GAMethodFlag=1 · 非精密进近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4320000"/>
            <a:ext cx="900000" cy="648000"/>
          </a:xfrm>
          <a:prstGeom prst="roundRect">
            <a:avLst/>
          </a:prstGeom>
          <a:solidFill>
            <a:srgbClr val="0F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0000" y="4356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深蓝色底 (15,25,40)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0" y="4644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普通主 QFU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152000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00000"/>
                </a:solidFill>
                <a:latin typeface="微软雅黑"/>
              </a:rPr>
              <a:t>📊 分析结果表颜色编码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0000" y="1620000"/>
            <a:ext cx="900000" cy="648000"/>
          </a:xfrm>
          <a:prstGeom prst="roundRect">
            <a:avLst/>
          </a:prstGeom>
          <a:solidFill>
            <a:srgbClr val="5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0" y="1656000"/>
            <a:ext cx="43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红色底 (80,30,30)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0" y="1944000"/>
            <a:ext cx="43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有效障碍物 — 穿越梯度面且在保护区内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0000" y="2520000"/>
            <a:ext cx="900000" cy="648000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0000" y="2556000"/>
            <a:ext cx="43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灰色底 (40,40,40)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2844000"/>
            <a:ext cx="43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被遮蔽障碍物 — 已被更近障碍物遮挡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0000" y="3420000"/>
            <a:ext cx="900000" cy="648000"/>
          </a:xfrm>
          <a:prstGeom prst="round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0" y="3456000"/>
            <a:ext cx="43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蓝色底 (15,30,50)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3744000"/>
            <a:ext cx="43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非障碍物 — 未穿越梯度面或不在保护区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5220000"/>
            <a:ext cx="10800000" cy="90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5328000"/>
            <a:ext cx="1044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/>
              </a:rPr>
              <a:t>颜色标记让数据核对更直观：
·  绿底QFU = ILS精密进近，需特别关注 GAMethodFlag 和 IncrementGAHeight
·  红底障碍物 = 必须纳入性能计算的有效障碍物，直接影响起飞限重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07  输入输出格式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52000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00000"/>
                </a:solidFill>
                <a:latin typeface="微软雅黑"/>
              </a:rPr>
              <a:t>📥 输入格式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620000"/>
            <a:ext cx="5220000" cy="450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800000"/>
            <a:ext cx="468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Version=1;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Airport;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Name=MEILAN;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State=CHINA;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ICAOCode=ZJHK;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...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Runway;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MagneticHeading=92;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QFU;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   Ident=09;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   TORA=3600;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   Slope=-0.08;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   Obstacle;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      Distance=4749;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      Elevation=35.1936;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   End;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   End;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   End;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333333"/>
                </a:solidFill>
                <a:latin typeface="Menlo"/>
              </a:rPr>
              <a:t>End;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152000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00000"/>
                </a:solidFill>
                <a:latin typeface="微软雅黑"/>
              </a:rPr>
              <a:t>📤 输出格式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1620000"/>
            <a:ext cx="5400000" cy="19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1692000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/>
              </a:rPr>
              <a:t>① PEP TXT 标准格式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2088000"/>
            <a:ext cx="50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严格遵循字段顺序和缩进</a:t>
            </a:r>
          </a:p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Distance = dist_from_end + TORA</a:t>
            </a:r>
          </a:p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Elevation 包含 ceil(ft) 精度处理</a:t>
            </a:r>
          </a:p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回环验证 0 差异 (ZGSZ, ZSHC)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3780000"/>
            <a:ext cx="5400000" cy="19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3851999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/>
              </a:rPr>
              <a:t>② Excel 分析报表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4248000"/>
            <a:ext cx="50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每个 QFU 单独工作表</a:t>
            </a:r>
          </a:p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包含完整障碍物分析数据</a:t>
            </a:r>
          </a:p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自动标注有效/遮蔽/正常</a:t>
            </a:r>
          </a:p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适合存档和汇报使用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08  验证测试成果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52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D32"/>
                </a:solidFill>
                <a:latin typeface="微软雅黑"/>
              </a:rPr>
              <a:t>✅ 格式一致性校验 — 全部 6 个参考机场通过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620000"/>
            <a:ext cx="1620000" cy="432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655999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机场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0000" y="1620000"/>
            <a:ext cx="1620000" cy="432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000" y="1655999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跑道数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0000" y="1620000"/>
            <a:ext cx="1620000" cy="432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0000" y="1655999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QFU数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0000" y="1620000"/>
            <a:ext cx="1620000" cy="432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0000" y="1655999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障碍物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0000" y="1620000"/>
            <a:ext cx="1620000" cy="432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0000" y="1655999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行数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40000" y="1620000"/>
            <a:ext cx="1620000" cy="432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0000" y="1655999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216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21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ZJHK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40000" y="216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000" y="21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2 跑道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000" y="216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40000" y="21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9 QFU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0000" y="216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0000" y="21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13 障碍物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0000" y="216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0000" y="21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543 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0000" y="216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0000" y="21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微软雅黑"/>
              </a:rPr>
              <a:t>✅ 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0000" y="270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" y="273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ZHHH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40000" y="270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000" y="273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3 跑道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40000" y="270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0000" y="273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11 QFU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0000" y="270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0000" y="273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22 障碍物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40000" y="270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0000" y="273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715 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40000" y="270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40000" y="273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微软雅黑"/>
              </a:rPr>
              <a:t>✅ OK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0000" y="324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0000" y="32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ZSWX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40000" y="324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40000" y="32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 跑道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40000" y="324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40000" y="32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2 QFU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0000" y="324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0000" y="32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0 障碍物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40000" y="324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40000" y="32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114 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40000" y="324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40000" y="32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微软雅黑"/>
              </a:rPr>
              <a:t>✅ OK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0000" y="378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0000" y="381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ZUTF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40000" y="378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40000" y="381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3 跑道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40000" y="378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40000" y="381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14 QFU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0000" y="378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0000" y="381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57 障碍物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40000" y="378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40000" y="381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1130 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40000" y="378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40000" y="381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微软雅黑"/>
              </a:rPr>
              <a:t>✅ OK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0000" y="432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0000" y="435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ZGSZ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40000" y="432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40000" y="435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3 跑道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40000" y="432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40000" y="435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13 QFU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0000" y="432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0000" y="435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69 障碍物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40000" y="432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40000" y="435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1181 行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540000" y="4320000"/>
            <a:ext cx="1620000" cy="432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40000" y="435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微软雅黑"/>
              </a:rPr>
              <a:t>✅ OK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40000" y="486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0000" y="48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ZSHC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340000" y="486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340000" y="48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2 跑道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40000" y="486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40000" y="48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8 QFU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0000" y="486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0000" y="48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94 障碍物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40000" y="486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740000" y="48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1146 行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540000" y="4860000"/>
            <a:ext cx="162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40000" y="489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微软雅黑"/>
              </a:rPr>
              <a:t>✅ OK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D32"/>
                </a:solidFill>
                <a:latin typeface="微软雅黑"/>
              </a:rPr>
              <a:t>✅ 回环测试：ZGSZ (1149行)、ZSHC (1098行) 实现 0 差异完美匹配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00"/>
            <a:ext cx="12192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09  应用价值与展望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2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408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69696"/>
                </a:solidFill>
                <a:latin typeface="微软雅黑"/>
              </a:rPr>
              <a:t>团结 奋斗 高效 务实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440000"/>
            <a:ext cx="2592000" cy="28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7999" y="1728000"/>
            <a:ext cx="900000" cy="90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7999" y="1836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808000"/>
            <a:ext cx="259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00000"/>
                </a:solidFill>
                <a:latin typeface="微软雅黑"/>
              </a:rPr>
              <a:t>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12000"/>
            <a:ext cx="223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</a:rPr>
              <a:t>障碍物分析从小时级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780000"/>
            <a:ext cx="223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</a:rPr>
              <a:t>缩短到分钟级完成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0" y="1440000"/>
            <a:ext cx="2592000" cy="28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67999" y="1728000"/>
            <a:ext cx="900000" cy="900000"/>
          </a:xfrm>
          <a:prstGeom prst="ellipse">
            <a:avLst/>
          </a:prstGeom>
          <a:solidFill>
            <a:srgbClr val="D4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7999" y="1836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0000" y="2808000"/>
            <a:ext cx="259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D4A34F"/>
                </a:solidFill>
                <a:latin typeface="微软雅黑"/>
              </a:rPr>
              <a:t>准确可靠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0" y="3312000"/>
            <a:ext cx="223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</a:rPr>
              <a:t>ICAO标准算法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0" y="3780000"/>
            <a:ext cx="223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</a:rPr>
              <a:t>回环验证0差异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0000" y="1440000"/>
            <a:ext cx="2592000" cy="28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47999" y="1728000"/>
            <a:ext cx="900000" cy="900000"/>
          </a:xfrm>
          <a:prstGeom prst="ellipse">
            <a:avLst/>
          </a:prstGeom>
          <a:solidFill>
            <a:srgbClr val="8B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7999" y="1836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2808000"/>
            <a:ext cx="259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8B151F"/>
                </a:solidFill>
                <a:latin typeface="微软雅黑"/>
              </a:rPr>
              <a:t>直观可视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000" y="3312000"/>
            <a:ext cx="223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</a:rPr>
              <a:t>颜色编码标记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3780000"/>
            <a:ext cx="223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</a:rPr>
              <a:t>数据核对一目了然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440000"/>
            <a:ext cx="2592000" cy="288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7999" y="1728000"/>
            <a:ext cx="900000" cy="90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7999" y="1836000"/>
            <a:ext cx="9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000" y="2808000"/>
            <a:ext cx="259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E7D32"/>
                </a:solidFill>
                <a:latin typeface="微软雅黑"/>
              </a:rPr>
              <a:t>标准合规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000" y="3312000"/>
            <a:ext cx="223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</a:rPr>
              <a:t>PEP格式输出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000" y="3780000"/>
            <a:ext cx="223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微软雅黑"/>
              </a:rPr>
              <a:t>严格对标参考文件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0000" y="4680000"/>
            <a:ext cx="11160000" cy="144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4788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C00000"/>
                </a:solidFill>
                <a:latin typeface="微软雅黑"/>
              </a:rPr>
              <a:t>🔮 未来展望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52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扩展支持更多机场的 PDF 格式自动解析          ·  增加批量机场处理功能</a:t>
            </a:r>
          </a:p>
          <a:p>
            <a:pPr>
              <a:spcAft>
                <a:spcPts val="359"/>
              </a:spcAft>
            </a:pPr>
            <a:r>
              <a:rPr sz="1200" b="0">
                <a:solidFill>
                  <a:srgbClr val="222222"/>
                </a:solidFill>
                <a:latin typeface="微软雅黑"/>
              </a:rPr>
              <a:t>·  完善 GAMethodFlag 自动传播与坡度一致性检查    ·  支持用户修改后自动重新计算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40000" y="3600000"/>
            <a:ext cx="4320000" cy="3600000"/>
          </a:xfrm>
          <a:prstGeom prst="rect">
            <a:avLst/>
          </a:prstGeom>
          <a:solidFill>
            <a:srgbClr val="929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FFFFFF"/>
                </a:solidFill>
                <a:latin typeface="微软雅黑"/>
              </a:rPr>
              <a:t>安全高效  精益求精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8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微软雅黑"/>
              </a:rPr>
              <a:t>机场障碍物对飞行影响分析系统
Airport Obstacle Impact Analysis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32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湖南航空 · 运行指挥部 · 运行分析室
设计开发：王迪  ·  2026年4月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0" y="640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69696"/>
                </a:solidFill>
                <a:latin typeface="微软雅黑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